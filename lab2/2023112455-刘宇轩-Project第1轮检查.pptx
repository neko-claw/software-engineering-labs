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8" r:id="rId12"/>
    <p:sldId id="311" r:id="rId13"/>
    <p:sldId id="312" r:id="rId14"/>
    <p:sldId id="313" r:id="rId15"/>
    <p:sldId id="310" r:id="rId1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2" autoAdjust="0"/>
    <p:restoredTop sz="94684" autoAdjust="0"/>
  </p:normalViewPr>
  <p:slideViewPr>
    <p:cSldViewPr>
      <p:cViewPr varScale="1">
        <p:scale>
          <a:sx n="96" d="100"/>
          <a:sy n="96" d="100"/>
        </p:scale>
        <p:origin x="1347" y="48"/>
      </p:cViewPr>
      <p:guideLst>
        <p:guide orient="horz" pos="2160"/>
        <p:guide pos="28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1489A1B-C30D-4A2D-AD6F-72C4054A6D5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89E6A0A5-B054-4435-9BCD-60BBB2AC9B0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4D0AC7F7-28E0-4451-9E7F-BBE89653D3D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24AFA55E-C78D-4271-A1AA-21C60951ACC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E00B01F3-32AD-4BC4-84E8-1E4816CB70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3653242-5CA7-4CB8-9947-3FD00403C6C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78825CA-6BCC-4690-9AB9-0EFC3D93DA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2C39313D-6AF2-4912-A75A-2D3B86A55B1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8C80EFC-FB0D-438E-8C50-9959271D37A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22E129E5-C647-4DFD-9481-EA3DF425B70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b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28D457D3-D93F-4D1B-96E3-B6FE70608E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b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B8DE9E20-473F-4C80-B5B8-9061F40A85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 descr="CITTEXT">
            <a:extLst>
              <a:ext uri="{FF2B5EF4-FFF2-40B4-BE49-F238E27FC236}">
                <a16:creationId xmlns:a16="http://schemas.microsoft.com/office/drawing/2014/main" id="{4F009FC3-CDD1-4766-8FCC-B205A3E79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6858000 h 3840"/>
              <a:gd name="T2" fmla="*/ 0 w 1824"/>
              <a:gd name="T3" fmla="*/ 0 h 3840"/>
              <a:gd name="T4" fmla="*/ 2895600 w 1824"/>
              <a:gd name="T5" fmla="*/ 0 h 3840"/>
              <a:gd name="T6" fmla="*/ 925513 w 1824"/>
              <a:gd name="T7" fmla="*/ 6858000 h 3840"/>
              <a:gd name="T8" fmla="*/ 0 w 1824"/>
              <a:gd name="T9" fmla="*/ 6858000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2A8C24-C896-4764-A12B-E389E1BBB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EB143B4-6FFF-4F66-B3F3-3E3AED936DFC}"/>
              </a:ext>
            </a:extLst>
          </p:cNvPr>
          <p:cNvGrpSpPr>
            <a:grpSpLocks/>
          </p:cNvGrpSpPr>
          <p:nvPr/>
        </p:nvGrpSpPr>
        <p:grpSpPr bwMode="auto">
          <a:xfrm>
            <a:off x="0" y="3567113"/>
            <a:ext cx="5781675" cy="149225"/>
            <a:chOff x="0" y="2256"/>
            <a:chExt cx="3642" cy="9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D034F10-CEAC-4BCB-9AE2-AF3DA06267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2310"/>
              <a:ext cx="3642" cy="1"/>
            </a:xfrm>
            <a:custGeom>
              <a:avLst/>
              <a:gdLst>
                <a:gd name="T0" fmla="*/ 0 w 3642"/>
                <a:gd name="T1" fmla="*/ 0 h 1"/>
                <a:gd name="T2" fmla="*/ 3642 w 364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42" h="1">
                  <a:moveTo>
                    <a:pt x="0" y="0"/>
                  </a:moveTo>
                  <a:lnTo>
                    <a:pt x="3642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0C0C959F-856D-4D22-BD79-8A38F9C183E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960" y="2256"/>
              <a:ext cx="1678" cy="94"/>
              <a:chOff x="419" y="1193"/>
              <a:chExt cx="1678" cy="94"/>
            </a:xfrm>
          </p:grpSpPr>
          <p:sp>
            <p:nvSpPr>
              <p:cNvPr id="9" name="Oval 9">
                <a:extLst>
                  <a:ext uri="{FF2B5EF4-FFF2-40B4-BE49-F238E27FC236}">
                    <a16:creationId xmlns:a16="http://schemas.microsoft.com/office/drawing/2014/main" id="{51CC8923-5B8E-4FF3-8CD8-DCBB1232DA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0" name="Oval 10">
                <a:extLst>
                  <a:ext uri="{FF2B5EF4-FFF2-40B4-BE49-F238E27FC236}">
                    <a16:creationId xmlns:a16="http://schemas.microsoft.com/office/drawing/2014/main" id="{32C558DE-7DD1-4A28-AD5B-C08B87A84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1" name="Oval 11">
                <a:extLst>
                  <a:ext uri="{FF2B5EF4-FFF2-40B4-BE49-F238E27FC236}">
                    <a16:creationId xmlns:a16="http://schemas.microsoft.com/office/drawing/2014/main" id="{D7D2CB88-62A8-447D-89D3-0364613E1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2" name="Oval 12">
                <a:extLst>
                  <a:ext uri="{FF2B5EF4-FFF2-40B4-BE49-F238E27FC236}">
                    <a16:creationId xmlns:a16="http://schemas.microsoft.com/office/drawing/2014/main" id="{3CF28040-2646-4705-A0A4-E0C37BE029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3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</p:grpSp>
      </p:grpSp>
      <p:sp>
        <p:nvSpPr>
          <p:cNvPr id="13" name="Text Box 13">
            <a:extLst>
              <a:ext uri="{FF2B5EF4-FFF2-40B4-BE49-F238E27FC236}">
                <a16:creationId xmlns:a16="http://schemas.microsoft.com/office/drawing/2014/main" id="{A9466556-3805-4AAD-B02D-9B031AAA4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4188" y="14288"/>
            <a:ext cx="1004887" cy="3381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6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endParaRPr lang="en-US" altLang="zh-CN" sz="1600" dirty="0">
              <a:latin typeface="楷体" pitchFamily="49" charset="-122"/>
              <a:ea typeface="楷体" pitchFamily="49" charset="-122"/>
              <a:cs typeface="Arial" panose="020B0604020202090204" pitchFamily="34" charset="0"/>
            </a:endParaRPr>
          </a:p>
        </p:txBody>
      </p:sp>
      <p:pic>
        <p:nvPicPr>
          <p:cNvPr id="14" name="Picture 11" descr="工大标志">
            <a:extLst>
              <a:ext uri="{FF2B5EF4-FFF2-40B4-BE49-F238E27FC236}">
                <a16:creationId xmlns:a16="http://schemas.microsoft.com/office/drawing/2014/main" id="{0D75B532-FB3A-40B6-A7E4-D9EC420270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92613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500313"/>
            <a:ext cx="7772400" cy="641350"/>
          </a:xfrm>
        </p:spPr>
        <p:txBody>
          <a:bodyPr anchor="b">
            <a:spAutoFit/>
          </a:bodyPr>
          <a:lstStyle>
            <a:lvl1pPr algn="ctr">
              <a:defRPr sz="360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396875"/>
          </a:xfrm>
        </p:spPr>
        <p:txBody>
          <a:bodyPr>
            <a:spAutoFit/>
          </a:bodyPr>
          <a:lstStyle>
            <a:lvl1pPr marL="0" indent="0" algn="ctr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b="0">
                <a:ea typeface="楷体_GB2312" pitchFamily="49" charset="-122"/>
                <a:cs typeface="宋体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625144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99248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213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484313"/>
            <a:ext cx="4027487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175" y="1484313"/>
            <a:ext cx="4029075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561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8434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47876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93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75133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44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09897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508000"/>
            <a:ext cx="2124075" cy="60896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3825" y="508000"/>
            <a:ext cx="6219825" cy="60896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48571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 descr="CITTEXT">
            <a:extLst>
              <a:ext uri="{FF2B5EF4-FFF2-40B4-BE49-F238E27FC236}">
                <a16:creationId xmlns:a16="http://schemas.microsoft.com/office/drawing/2014/main" id="{DB27856A-E224-43E9-8210-C57B68C67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6858000 h 3840"/>
              <a:gd name="T2" fmla="*/ 0 w 1824"/>
              <a:gd name="T3" fmla="*/ 0 h 3840"/>
              <a:gd name="T4" fmla="*/ 2895600 w 1824"/>
              <a:gd name="T5" fmla="*/ 0 h 3840"/>
              <a:gd name="T6" fmla="*/ 925513 w 1824"/>
              <a:gd name="T7" fmla="*/ 6858000 h 3840"/>
              <a:gd name="T8" fmla="*/ 0 w 1824"/>
              <a:gd name="T9" fmla="*/ 6858000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357E8D-C3F2-4501-9095-617EE42EC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EDDEE18-C965-49ED-9F34-7203B85876C7}"/>
              </a:ext>
            </a:extLst>
          </p:cNvPr>
          <p:cNvGrpSpPr>
            <a:grpSpLocks/>
          </p:cNvGrpSpPr>
          <p:nvPr/>
        </p:nvGrpSpPr>
        <p:grpSpPr bwMode="auto">
          <a:xfrm>
            <a:off x="0" y="3567113"/>
            <a:ext cx="5781675" cy="149225"/>
            <a:chOff x="0" y="2256"/>
            <a:chExt cx="3642" cy="9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9EC09FC-E867-4A77-805A-FE55FD570C7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2310"/>
              <a:ext cx="3642" cy="1"/>
            </a:xfrm>
            <a:custGeom>
              <a:avLst/>
              <a:gdLst>
                <a:gd name="T0" fmla="*/ 0 w 3642"/>
                <a:gd name="T1" fmla="*/ 0 h 1"/>
                <a:gd name="T2" fmla="*/ 3642 w 364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42" h="1">
                  <a:moveTo>
                    <a:pt x="0" y="0"/>
                  </a:moveTo>
                  <a:lnTo>
                    <a:pt x="3642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0A2B49C0-558A-4F76-B67F-515AA3DFEA3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960" y="2256"/>
              <a:ext cx="1678" cy="94"/>
              <a:chOff x="419" y="1193"/>
              <a:chExt cx="1678" cy="94"/>
            </a:xfrm>
          </p:grpSpPr>
          <p:sp>
            <p:nvSpPr>
              <p:cNvPr id="9" name="Oval 9">
                <a:extLst>
                  <a:ext uri="{FF2B5EF4-FFF2-40B4-BE49-F238E27FC236}">
                    <a16:creationId xmlns:a16="http://schemas.microsoft.com/office/drawing/2014/main" id="{9483AC56-EC46-40EE-A0C5-449E6D799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0" name="Oval 10">
                <a:extLst>
                  <a:ext uri="{FF2B5EF4-FFF2-40B4-BE49-F238E27FC236}">
                    <a16:creationId xmlns:a16="http://schemas.microsoft.com/office/drawing/2014/main" id="{0A8900DF-A97F-4ADD-9306-C87A12CA58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1" name="Oval 11">
                <a:extLst>
                  <a:ext uri="{FF2B5EF4-FFF2-40B4-BE49-F238E27FC236}">
                    <a16:creationId xmlns:a16="http://schemas.microsoft.com/office/drawing/2014/main" id="{C8924437-B1A0-415C-AD0B-06102F49A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2" name="Oval 12">
                <a:extLst>
                  <a:ext uri="{FF2B5EF4-FFF2-40B4-BE49-F238E27FC236}">
                    <a16:creationId xmlns:a16="http://schemas.microsoft.com/office/drawing/2014/main" id="{BA6C8C63-1F76-4A95-ABB4-92D2C0BCD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3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</p:grpSp>
      </p:grpSp>
      <p:sp>
        <p:nvSpPr>
          <p:cNvPr id="13" name="Text Box 13">
            <a:extLst>
              <a:ext uri="{FF2B5EF4-FFF2-40B4-BE49-F238E27FC236}">
                <a16:creationId xmlns:a16="http://schemas.microsoft.com/office/drawing/2014/main" id="{7D7CCD77-A105-4B1E-8A73-37357788C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4188" y="14288"/>
            <a:ext cx="1004887" cy="3381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6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endParaRPr lang="en-US" altLang="zh-CN" sz="1600" dirty="0">
              <a:latin typeface="楷体" pitchFamily="49" charset="-122"/>
              <a:ea typeface="楷体" pitchFamily="49" charset="-122"/>
              <a:cs typeface="Arial" panose="020B0604020202090204" pitchFamily="34" charset="0"/>
            </a:endParaRPr>
          </a:p>
        </p:txBody>
      </p:sp>
      <p:pic>
        <p:nvPicPr>
          <p:cNvPr id="14" name="Picture 11" descr="工大标志">
            <a:extLst>
              <a:ext uri="{FF2B5EF4-FFF2-40B4-BE49-F238E27FC236}">
                <a16:creationId xmlns:a16="http://schemas.microsoft.com/office/drawing/2014/main" id="{3EB678AD-4AD1-488A-AA7D-A40687A68E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92613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500313"/>
            <a:ext cx="7772400" cy="641350"/>
          </a:xfrm>
        </p:spPr>
        <p:txBody>
          <a:bodyPr anchor="b">
            <a:spAutoFit/>
          </a:bodyPr>
          <a:lstStyle>
            <a:lvl1pPr algn="ctr">
              <a:defRPr sz="360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396875"/>
          </a:xfrm>
        </p:spPr>
        <p:txBody>
          <a:bodyPr>
            <a:spAutoFit/>
          </a:bodyPr>
          <a:lstStyle>
            <a:lvl1pPr marL="0" indent="0" algn="ctr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b="0">
                <a:ea typeface="楷体_GB2312" pitchFamily="49" charset="-122"/>
                <a:cs typeface="宋体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248184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87246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833671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484313"/>
            <a:ext cx="4027487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175" y="1484313"/>
            <a:ext cx="4029075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80612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83343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12150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034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868391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35565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03737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508000"/>
            <a:ext cx="2124075" cy="60896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3825" y="508000"/>
            <a:ext cx="6219825" cy="60896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90933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1">
            <a:extLst>
              <a:ext uri="{FF2B5EF4-FFF2-40B4-BE49-F238E27FC236}">
                <a16:creationId xmlns:a16="http://schemas.microsoft.com/office/drawing/2014/main" id="{FB979DEF-EF2C-4AC2-A86A-47E2A9839A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3825" y="508000"/>
            <a:ext cx="84963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12">
            <a:extLst>
              <a:ext uri="{FF2B5EF4-FFF2-40B4-BE49-F238E27FC236}">
                <a16:creationId xmlns:a16="http://schemas.microsoft.com/office/drawing/2014/main" id="{FFE5D71C-0B6C-4488-9B33-5D8768850EE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95288" y="1484313"/>
            <a:ext cx="8208962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Freeform 13">
            <a:extLst>
              <a:ext uri="{FF2B5EF4-FFF2-40B4-BE49-F238E27FC236}">
                <a16:creationId xmlns:a16="http://schemas.microsoft.com/office/drawing/2014/main" id="{91657657-335D-4DBF-B2AC-19C07C48A4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2400" y="1268413"/>
            <a:ext cx="7732713" cy="5589587"/>
          </a:xfrm>
          <a:custGeom>
            <a:avLst/>
            <a:gdLst>
              <a:gd name="T0" fmla="*/ 0 w 4320"/>
              <a:gd name="T1" fmla="*/ 5589587 h 3264"/>
              <a:gd name="T2" fmla="*/ 0 w 4320"/>
              <a:gd name="T3" fmla="*/ 0 h 3264"/>
              <a:gd name="T4" fmla="*/ 7732713 w 4320"/>
              <a:gd name="T5" fmla="*/ 0 h 32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" h="3264">
                <a:moveTo>
                  <a:pt x="0" y="3264"/>
                </a:moveTo>
                <a:lnTo>
                  <a:pt x="0" y="0"/>
                </a:lnTo>
                <a:lnTo>
                  <a:pt x="4320" y="0"/>
                </a:lnTo>
              </a:path>
            </a:pathLst>
          </a:cu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6" name="Oval 14">
            <a:extLst>
              <a:ext uri="{FF2B5EF4-FFF2-40B4-BE49-F238E27FC236}">
                <a16:creationId xmlns:a16="http://schemas.microsoft.com/office/drawing/2014/main" id="{0C6B3323-7494-40F6-86FB-AE08793B5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7" name="Oval 15">
            <a:extLst>
              <a:ext uri="{FF2B5EF4-FFF2-40B4-BE49-F238E27FC236}">
                <a16:creationId xmlns:a16="http://schemas.microsoft.com/office/drawing/2014/main" id="{1268F838-0455-438E-ACDE-FB6F172D6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3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8" name="Oval 16">
            <a:extLst>
              <a:ext uri="{FF2B5EF4-FFF2-40B4-BE49-F238E27FC236}">
                <a16:creationId xmlns:a16="http://schemas.microsoft.com/office/drawing/2014/main" id="{2DEEAE5B-DFE8-446B-AC14-37B95A73A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9" name="Oval 17">
            <a:extLst>
              <a:ext uri="{FF2B5EF4-FFF2-40B4-BE49-F238E27FC236}">
                <a16:creationId xmlns:a16="http://schemas.microsoft.com/office/drawing/2014/main" id="{189D22FB-4E52-4019-8000-839D53431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7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1033" name="Rectangle 18">
            <a:extLst>
              <a:ext uri="{FF2B5EF4-FFF2-40B4-BE49-F238E27FC236}">
                <a16:creationId xmlns:a16="http://schemas.microsoft.com/office/drawing/2014/main" id="{384191E2-5D36-4D3F-9A68-9504B45B1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4" name="Text Box 19">
            <a:extLst>
              <a:ext uri="{FF2B5EF4-FFF2-40B4-BE49-F238E27FC236}">
                <a16:creationId xmlns:a16="http://schemas.microsoft.com/office/drawing/2014/main" id="{398CF841-FCFA-4189-AC1E-A721DA3D5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563" y="19050"/>
            <a:ext cx="2611437" cy="3222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《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》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第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1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轮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 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检查汇报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9pPr>
    </p:titleStyle>
    <p:bodyStyle>
      <a:lvl1pPr marL="228600" indent="-227013" algn="l" rtl="0" eaLnBrk="0" fontAlgn="base" hangingPunct="0">
        <a:spcBef>
          <a:spcPct val="35000"/>
        </a:spcBef>
        <a:spcAft>
          <a:spcPct val="1500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rgbClr val="000000"/>
          </a:solidFill>
          <a:latin typeface="+mn-lt"/>
          <a:ea typeface="+mn-ea"/>
          <a:cs typeface="+mn-cs"/>
        </a:defRPr>
      </a:lvl1pPr>
      <a:lvl2pPr marL="457200" indent="-227013" algn="l" rtl="0" eaLnBrk="0" fontAlgn="base" hangingPunct="0">
        <a:spcBef>
          <a:spcPct val="25000"/>
        </a:spcBef>
        <a:spcAft>
          <a:spcPct val="15000"/>
        </a:spcAft>
        <a:buClr>
          <a:schemeClr val="accent2"/>
        </a:buClr>
        <a:buFont typeface="Arial" panose="020B0604020202020204" pitchFamily="34" charset="0"/>
        <a:buChar char="–"/>
        <a:defRPr>
          <a:solidFill>
            <a:srgbClr val="000000"/>
          </a:solidFill>
          <a:latin typeface="+mn-lt"/>
          <a:ea typeface="+mn-ea"/>
        </a:defRPr>
      </a:lvl2pPr>
      <a:lvl3pPr marL="682625" indent="-2238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000000"/>
          </a:solidFill>
          <a:latin typeface="+mn-lt"/>
          <a:ea typeface="+mn-ea"/>
        </a:defRPr>
      </a:lvl3pPr>
      <a:lvl4pPr marL="912813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+mn-lt"/>
          <a:ea typeface="+mn-ea"/>
        </a:defRPr>
      </a:lvl4pPr>
      <a:lvl5pPr marL="1143000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5pPr>
      <a:lvl6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6pPr>
      <a:lvl7pPr marL="20574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7pPr>
      <a:lvl8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8pPr>
      <a:lvl9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1">
            <a:extLst>
              <a:ext uri="{FF2B5EF4-FFF2-40B4-BE49-F238E27FC236}">
                <a16:creationId xmlns:a16="http://schemas.microsoft.com/office/drawing/2014/main" id="{8E8CDE96-FA30-4719-BAB8-71D2BFFDD26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3825" y="508000"/>
            <a:ext cx="84963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12">
            <a:extLst>
              <a:ext uri="{FF2B5EF4-FFF2-40B4-BE49-F238E27FC236}">
                <a16:creationId xmlns:a16="http://schemas.microsoft.com/office/drawing/2014/main" id="{605C9420-4BCA-48F3-AD57-7427DF504F4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95288" y="1484313"/>
            <a:ext cx="8208962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052" name="Freeform 13">
            <a:extLst>
              <a:ext uri="{FF2B5EF4-FFF2-40B4-BE49-F238E27FC236}">
                <a16:creationId xmlns:a16="http://schemas.microsoft.com/office/drawing/2014/main" id="{E1D79AAF-C553-4D4B-9164-AE710AF67C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2400" y="1268413"/>
            <a:ext cx="7732713" cy="5589587"/>
          </a:xfrm>
          <a:custGeom>
            <a:avLst/>
            <a:gdLst>
              <a:gd name="T0" fmla="*/ 0 w 4320"/>
              <a:gd name="T1" fmla="*/ 5589587 h 3264"/>
              <a:gd name="T2" fmla="*/ 0 w 4320"/>
              <a:gd name="T3" fmla="*/ 0 h 3264"/>
              <a:gd name="T4" fmla="*/ 7732713 w 4320"/>
              <a:gd name="T5" fmla="*/ 0 h 32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" h="3264">
                <a:moveTo>
                  <a:pt x="0" y="3264"/>
                </a:moveTo>
                <a:lnTo>
                  <a:pt x="0" y="0"/>
                </a:lnTo>
                <a:lnTo>
                  <a:pt x="4320" y="0"/>
                </a:lnTo>
              </a:path>
            </a:pathLst>
          </a:cu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6" name="Oval 14">
            <a:extLst>
              <a:ext uri="{FF2B5EF4-FFF2-40B4-BE49-F238E27FC236}">
                <a16:creationId xmlns:a16="http://schemas.microsoft.com/office/drawing/2014/main" id="{33072174-0E9A-480E-92E5-B0A33D64E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7" name="Oval 15">
            <a:extLst>
              <a:ext uri="{FF2B5EF4-FFF2-40B4-BE49-F238E27FC236}">
                <a16:creationId xmlns:a16="http://schemas.microsoft.com/office/drawing/2014/main" id="{1C4CFA92-0414-4F59-9C01-7A96AE69B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3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8" name="Oval 16">
            <a:extLst>
              <a:ext uri="{FF2B5EF4-FFF2-40B4-BE49-F238E27FC236}">
                <a16:creationId xmlns:a16="http://schemas.microsoft.com/office/drawing/2014/main" id="{8CF00E8B-0A18-4C66-8D2D-4CE460BC4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9" name="Oval 17">
            <a:extLst>
              <a:ext uri="{FF2B5EF4-FFF2-40B4-BE49-F238E27FC236}">
                <a16:creationId xmlns:a16="http://schemas.microsoft.com/office/drawing/2014/main" id="{D9E5C399-9DC5-4558-B2F7-85FBCB650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7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1033" name="Rectangle 18">
            <a:extLst>
              <a:ext uri="{FF2B5EF4-FFF2-40B4-BE49-F238E27FC236}">
                <a16:creationId xmlns:a16="http://schemas.microsoft.com/office/drawing/2014/main" id="{B0E96F7F-DC19-4A8A-A8A4-0D73496FD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4" name="Text Box 19">
            <a:extLst>
              <a:ext uri="{FF2B5EF4-FFF2-40B4-BE49-F238E27FC236}">
                <a16:creationId xmlns:a16="http://schemas.microsoft.com/office/drawing/2014/main" id="{5C46D4B1-8241-4419-AC61-388D25237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563" y="19050"/>
            <a:ext cx="2611437" cy="3222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《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》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第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1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轮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 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检查汇报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9pPr>
    </p:titleStyle>
    <p:bodyStyle>
      <a:lvl1pPr marL="228600" indent="-227013" algn="l" rtl="0" eaLnBrk="0" fontAlgn="base" hangingPunct="0">
        <a:spcBef>
          <a:spcPct val="35000"/>
        </a:spcBef>
        <a:spcAft>
          <a:spcPct val="1500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rgbClr val="000000"/>
          </a:solidFill>
          <a:latin typeface="+mn-lt"/>
          <a:ea typeface="+mn-ea"/>
          <a:cs typeface="+mn-cs"/>
        </a:defRPr>
      </a:lvl1pPr>
      <a:lvl2pPr marL="457200" indent="-227013" algn="l" rtl="0" eaLnBrk="0" fontAlgn="base" hangingPunct="0">
        <a:spcBef>
          <a:spcPct val="25000"/>
        </a:spcBef>
        <a:spcAft>
          <a:spcPct val="15000"/>
        </a:spcAft>
        <a:buClr>
          <a:schemeClr val="accent2"/>
        </a:buClr>
        <a:buFont typeface="Arial" panose="020B0604020202020204" pitchFamily="34" charset="0"/>
        <a:buChar char="–"/>
        <a:defRPr>
          <a:solidFill>
            <a:srgbClr val="000000"/>
          </a:solidFill>
          <a:latin typeface="+mn-lt"/>
          <a:ea typeface="+mn-ea"/>
        </a:defRPr>
      </a:lvl2pPr>
      <a:lvl3pPr marL="682625" indent="-2238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000000"/>
          </a:solidFill>
          <a:latin typeface="+mn-lt"/>
          <a:ea typeface="+mn-ea"/>
        </a:defRPr>
      </a:lvl3pPr>
      <a:lvl4pPr marL="912813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+mn-lt"/>
          <a:ea typeface="+mn-ea"/>
        </a:defRPr>
      </a:lvl4pPr>
      <a:lvl5pPr marL="1143000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5pPr>
      <a:lvl6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6pPr>
      <a:lvl7pPr marL="20574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7pPr>
      <a:lvl8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8pPr>
      <a:lvl9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435804FC-E64C-4184-9A4A-DE6B688D7B6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17663"/>
            <a:ext cx="7772400" cy="1506537"/>
          </a:xfrm>
        </p:spPr>
        <p:txBody>
          <a:bodyPr/>
          <a:lstStyle/>
          <a:p>
            <a:r>
              <a:t>哈工大计算学部2026年春季学期</a:t>
            </a:r>
          </a:p>
          <a:p>
            <a:r>
              <a:t>《软件工程》Project</a:t>
            </a:r>
          </a:p>
          <a:p>
            <a:r>
              <a:t>第1轮检查汇报</a:t>
            </a:r>
          </a:p>
        </p:txBody>
      </p:sp>
      <p:sp>
        <p:nvSpPr>
          <p:cNvPr id="7171" name="Rectangle 193">
            <a:extLst>
              <a:ext uri="{FF2B5EF4-FFF2-40B4-BE49-F238E27FC236}">
                <a16:creationId xmlns:a16="http://schemas.microsoft.com/office/drawing/2014/main" id="{C8CEA891-BAEE-453B-A300-41E3875F45D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1136650"/>
          </a:xfrm>
        </p:spPr>
        <p:txBody>
          <a:bodyPr/>
          <a:lstStyle/>
          <a:p>
            <a:r>
              <a:t>小组成员：刘宇轩</a:t>
            </a:r>
          </a:p>
          <a:p>
            <a:r>
              <a:t>2023112455  23R0313</a:t>
            </a:r>
          </a:p>
          <a:p>
            <a:r>
              <a:t>2026年3月27日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13CA0C2-76C3-4DAF-9962-5FA61FA4C8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algn="l">
              <a:defRPr b="1" sz="2400"/>
            </a:pPr>
            <a:r>
              <a:t>选题与分组</a:t>
            </a:r>
          </a:p>
        </p:txBody>
      </p:sp>
      <p:graphicFrame>
        <p:nvGraphicFramePr>
          <p:cNvPr id="138295" name="Group 55">
            <a:extLst>
              <a:ext uri="{FF2B5EF4-FFF2-40B4-BE49-F238E27FC236}">
                <a16:creationId xmlns:a16="http://schemas.microsoft.com/office/drawing/2014/main" id="{4C5BC54B-DC9B-4676-BA31-A76FA650F655}"/>
              </a:ext>
            </a:extLst>
          </p:cNvPr>
          <p:cNvGraphicFramePr>
            <a:graphicFrameLocks noGrp="1"/>
          </p:cNvGraphicFramePr>
          <p:nvPr/>
        </p:nvGraphicFramePr>
        <p:xfrm>
          <a:off x="468313" y="1412875"/>
          <a:ext cx="8135937" cy="4716464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6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题    目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班    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4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姓名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学号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联系方式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组长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/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组员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手机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/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邮件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组长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146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组员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组员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20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项目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Github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地址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指导教师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8296" name="TextBox 138295"/>
          <p:cNvSpPr txBox="1"/>
          <p:nvPr/>
        </p:nvSpPr>
        <p:spPr>
          <a:xfrm>
            <a:off x="731520" y="1554480"/>
            <a:ext cx="53035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项目名称：CodePilot——从零实现的智能 Coding Agent 开发平台</a:t>
            </a:r>
          </a:p>
          <a:p>
            <a:pPr algn="l">
              <a:defRPr sz="1800"/>
            </a:pPr>
            <a:r>
              <a:t>选题方向：面向开发任务执行的智能编程代理原型</a:t>
            </a:r>
          </a:p>
          <a:p>
            <a:pPr algn="l">
              <a:defRPr sz="1800"/>
            </a:pPr>
            <a:r>
              <a:t>当前分工：由刘宇轩完成需求分析、项目规划、原型设计、代码验证与汇报整理</a:t>
            </a:r>
          </a:p>
          <a:p>
            <a:pPr algn="l">
              <a:defRPr sz="1800"/>
            </a:pPr>
            <a:r>
              <a:t>选题原因：项目既能体现软件工程流程，也有明确的技术落地目标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3F7F266-DACF-4860-9697-CF8E96797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algn="l">
              <a:defRPr b="1" sz="2400"/>
            </a:pPr>
            <a:r>
              <a:t>对题目的理解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87902CB-819B-4398-9403-A9555625A5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 algn="l">
              <a:defRPr sz="1800"/>
            </a:pPr>
            <a:r>
              <a:t>CodePilot 的目标不是做普通聊天助手，而是做一个真正可执行开发任务的 Agent。</a:t>
            </a:r>
          </a:p>
          <a:p>
            <a:pPr algn="l">
              <a:defRPr sz="1800"/>
            </a:pPr>
            <a:r>
              <a:t>它要完成“任务输入→仓库理解→计划生成→代码修改→命令执行→结果验证→回退”闭环。</a:t>
            </a:r>
          </a:p>
          <a:p>
            <a:pPr algn="l">
              <a:defRPr sz="1800"/>
            </a:pPr>
            <a:r>
              <a:t>目标用户主要是课程项目开发者、学生程序员和个人开发者。</a:t>
            </a:r>
          </a:p>
          <a:p>
            <a:pPr algn="l">
              <a:defRPr sz="1800"/>
            </a:pPr>
            <a:r>
              <a:t>项目现实意义在于：把大模型从“回答问题”推进到“完成任务”。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178E5D1-7A97-4AD7-9235-30AEABC96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algn="l">
              <a:defRPr b="1" sz="2400"/>
            </a:pPr>
            <a:r>
              <a:t>功能清单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AC49035-F1C9-40AD-9E20-D0B3957283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 algn="l">
              <a:defRPr sz="1800"/>
            </a:pPr>
            <a:r>
              <a:t>US-01 自然语言输入任务：接受用户任务描述。</a:t>
            </a:r>
            <a:endParaRPr lang="en-US" altLang="zh-CN" dirty="0"/>
          </a:p>
          <a:p>
            <a:pPr algn="l">
              <a:defRPr sz="1800"/>
            </a:pPr>
            <a:r>
              <a:t>US-02 仓库扫描与上下文理解：读取 README、配置文件和测试入口。</a:t>
            </a:r>
          </a:p>
          <a:p>
            <a:pPr algn="l">
              <a:defRPr sz="1800"/>
            </a:pPr>
            <a:r>
              <a:t>US-03 任务规划展示：先给出可确认的步骤和风险提示。</a:t>
            </a:r>
          </a:p>
          <a:p>
            <a:pPr algn="l">
              <a:defRPr sz="1800"/>
            </a:pPr>
            <a:r>
              <a:t>US-04/05/06：支持多文件修改、命令执行与结果对比。</a:t>
            </a:r>
          </a:p>
          <a:p>
            <a:pPr algn="l">
              <a:defRPr sz="1800"/>
            </a:pPr>
            <a:r>
              <a:t>US-07~US-12：补充日志、失败修复、历史会话、边界控制和一键回退。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35C0C8F-91A3-4472-A8CB-884AC02D5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algn="l">
              <a:defRPr b="1" sz="2400"/>
            </a:pPr>
            <a:r>
              <a:t>非功能需求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B1EB50B-B1AA-4E9D-ABD3-6B1FCCFE94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 algn="l">
              <a:defRPr sz="1800"/>
            </a:pPr>
            <a:r>
              <a:t>可控性：默认先 Plan 再 Execute，高风险命令必须确认。</a:t>
            </a:r>
          </a:p>
          <a:p>
            <a:pPr algn="l">
              <a:defRPr sz="1800"/>
            </a:pPr>
            <a:r>
              <a:t>可验证性：命令要有退出码、日志、Diff 和测试结果。</a:t>
            </a:r>
          </a:p>
          <a:p>
            <a:pPr algn="l">
              <a:defRPr sz="1800"/>
            </a:pPr>
            <a:r>
              <a:t>可维护性：采用 TDD，文档和代码同步更新。</a:t>
            </a:r>
          </a:p>
          <a:p>
            <a:pPr algn="l">
              <a:defRPr sz="1800"/>
            </a:pPr>
            <a:r>
              <a:t>安全性：限制执行边界，支持快照与回退。</a:t>
            </a:r>
          </a:p>
        </p:txBody>
      </p:sp>
      <p:pic>
        <p:nvPicPr>
          <p:cNvPr id="11268" name="Picture 11267" descr="img_0701eb57aa9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4937760" cy="22719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EC1E3E4-4E7D-4233-90BD-35909CF9A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algn="l">
              <a:defRPr b="1" sz="2400"/>
            </a:pPr>
            <a:r>
              <a:t>系统的体系结构构思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239DC44-1199-4ABC-A3F1-B84929C268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 algn="l">
              <a:defRPr sz="1800"/>
            </a:pPr>
            <a:r>
              <a:t>交互层：CLI / 用户输入</a:t>
            </a:r>
          </a:p>
          <a:p>
            <a:pPr algn="l">
              <a:defRPr sz="1800"/>
            </a:pPr>
            <a:r>
              <a:t>Plan 控制层：任务摘要、候选文件、候选命令、风险提示</a:t>
            </a:r>
          </a:p>
          <a:p>
            <a:pPr algn="l">
              <a:defRPr sz="1800"/>
            </a:pPr>
            <a:r>
              <a:t>Execute 调度层：读写文件、搜索、Shell、Code Interpreter</a:t>
            </a:r>
          </a:p>
          <a:p>
            <a:pPr algn="l">
              <a:defRPr sz="1800"/>
            </a:pPr>
            <a:r>
              <a:t>验证反馈层：Diff、测试结果、日志、失败提示、回退入口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C7B9A5F-2CB9-4E9B-8328-682E5E9A29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algn="l">
              <a:defRPr b="1" sz="2400"/>
            </a:pPr>
            <a:r>
              <a:t>系统开发技术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0DF192F-4797-4662-B3A0-BA76C07BD7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 algn="l">
              <a:defRPr sz="1800"/>
            </a:pPr>
            <a:r>
              <a:t>编程语言：Python 3.11+</a:t>
            </a:r>
          </a:p>
          <a:p>
            <a:pPr algn="l">
              <a:defRPr sz="1800"/>
            </a:pPr>
            <a:r>
              <a:t>开发环境：Linux + venv + VS Code / CLI</a:t>
            </a:r>
          </a:p>
          <a:p>
            <a:pPr algn="l">
              <a:defRPr sz="1800"/>
            </a:pPr>
            <a:r>
              <a:t>运行环境：本地仓库 + GitHub API + DeepSeek API（可扩展）</a:t>
            </a:r>
          </a:p>
          <a:p>
            <a:pPr algn="l">
              <a:defRPr sz="1800"/>
            </a:pPr>
            <a:r>
              <a:t>主要技术：Plan-Execute、TDD、Pytest、Ruff、Pylint、pytest-cov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6460647-A818-4407-BE45-BAF41FC02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algn="l">
              <a:defRPr b="1" sz="2400"/>
            </a:pPr>
            <a:r>
              <a:t>团队分工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CD5598D-8805-4B45-9C4D-9902738BD9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 algn="l">
              <a:defRPr sz="1800"/>
            </a:pPr>
            <a:r>
              <a:t>当前项目以单人原型推进，因此主要工作由刘宇轩承担。</a:t>
            </a:r>
            <a:endParaRPr lang="zh-CN" altLang="zh-CN"/>
          </a:p>
          <a:p>
            <a:pPr algn="l">
              <a:defRPr sz="1800"/>
            </a:pPr>
            <a:r>
              <a:t>需求分析：整理用户故事、非功能需求和功能边界。</a:t>
            </a:r>
          </a:p>
          <a:p>
            <a:pPr algn="l">
              <a:defRPr sz="1800"/>
            </a:pPr>
            <a:r>
              <a:t>项目规划：制定 Sprint 计划、工作量估算和检查材料。</a:t>
            </a:r>
          </a:p>
          <a:p>
            <a:pPr algn="l">
              <a:defRPr sz="1800"/>
            </a:pPr>
            <a:r>
              <a:t>实现与验证：结合真实仓库运行 pytest / ruff，补充日志与截图证据。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287BE11-7E85-4C14-92EE-33137DA7AA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algn="l">
              <a:defRPr b="1" sz="2400"/>
            </a:pPr>
            <a:r>
              <a:t>开发进度计划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620E365-B08C-474B-AD5F-9C46391E56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 algn="l">
              <a:defRPr sz="1800"/>
            </a:pPr>
            <a:r>
              <a:t>第1-2周：需求分析、用户故事整理、原型草图。</a:t>
            </a:r>
            <a:endParaRPr lang="en-US" altLang="zh-CN" dirty="0"/>
          </a:p>
          <a:p>
            <a:pPr algn="l">
              <a:defRPr sz="1800"/>
            </a:pPr>
            <a:r>
              <a:t>第3-4周：仓库扫描、Plan 输出、工具能力设计。</a:t>
            </a:r>
          </a:p>
          <a:p>
            <a:pPr algn="l">
              <a:defRPr sz="1800"/>
            </a:pPr>
            <a:r>
              <a:t>第5-6周：代码修改、命令执行、真实运行验证。</a:t>
            </a:r>
          </a:p>
          <a:p>
            <a:pPr algn="l">
              <a:defRPr sz="1800"/>
            </a:pPr>
            <a:r>
              <a:t>第7-8周：日志、失败修复、历史会话、回退能力。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BA2FD11-0BDA-4770-9E98-74FAB5E304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algn="l">
              <a:defRPr b="1" sz="2400"/>
            </a:pPr>
            <a:r>
              <a:t>可行性分析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65931FF-0F58-45EC-973D-A69A6955D7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 algn="l">
              <a:defRPr sz="1800"/>
            </a:pPr>
            <a:r>
              <a:t>技术可行：Python 工具链成熟，仓库中已有可运行骨架和测试文档。</a:t>
            </a:r>
            <a:endParaRPr lang="zh-CN" altLang="zh-CN"/>
          </a:p>
          <a:p>
            <a:pPr algn="l">
              <a:defRPr sz="1800"/>
            </a:pPr>
            <a:r>
              <a:t>时间可行：先做 MVP，再做增强，符合课程周期。</a:t>
            </a:r>
          </a:p>
          <a:p>
            <a:pPr algn="l">
              <a:defRPr sz="1800"/>
            </a:pPr>
            <a:r>
              <a:t>实现可行：项目范围清晰，核心能力已拆成 12 条 Story。</a:t>
            </a:r>
          </a:p>
          <a:p>
            <a:pPr algn="l">
              <a:defRPr sz="1800"/>
            </a:pPr>
            <a:r>
              <a:t>风险：CodeArts 过程截图暂不完整，后续需要补齐迭代页和燃尽图。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6DDAF12-D9C2-4C18-99DD-48829312E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algn="l">
              <a:defRPr b="1" sz="2400"/>
            </a:pPr>
            <a:r>
              <a:t>第1轮成果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3F3A06E5-2897-498D-8302-75AC439A06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 algn="l">
              <a:buFont typeface="Wingdings" panose="05000000000000000000" pitchFamily="2" charset="2"/>
              <a:buNone/>
              <a:defRPr sz="1800"/>
            </a:pPr>
            <a:r>
              <a:t>已完成：项目概述、用户故事、工作量估算、两轮 Sprint 计划。</a:t>
            </a:r>
            <a:endParaRPr lang="zh-CN" altLang="zh-CN" dirty="0"/>
          </a:p>
          <a:p>
            <a:pPr algn="l">
              <a:defRPr sz="1800"/>
            </a:pPr>
            <a:r>
              <a:t>已录入：CodeArts Story 列表（US-01~US-12）。</a:t>
            </a:r>
          </a:p>
          <a:p>
            <a:pPr algn="l">
              <a:defRPr sz="1800"/>
            </a:pPr>
            <a:r>
              <a:t>已验证：真实运行截图可看到 ready_to_execute、pytest/ruff、history/logs。</a:t>
            </a:r>
          </a:p>
          <a:p>
            <a:pPr algn="l">
              <a:defRPr sz="1800"/>
            </a:pPr>
            <a:r>
              <a:t>说明：第1轮重点是把主流程和检查材料先建立起来。</a:t>
            </a:r>
          </a:p>
        </p:txBody>
      </p:sp>
      <p:pic>
        <p:nvPicPr>
          <p:cNvPr id="17412" name="Picture 17411" descr="browser_screenshot_7c7abb533a014cae9c05c69fdde76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63040"/>
            <a:ext cx="5303520" cy="50424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CC24D53-4AE9-4238-A74A-E55086D2DA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algn="l">
              <a:defRPr b="1" sz="2400"/>
            </a:pPr>
            <a:r>
              <a:t>小结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684DB62-7C8D-4BBD-86E3-9CE690082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28600" eaLnBrk="1" hangingPunct="1" algn="l">
              <a:defRPr sz="1800"/>
            </a:pPr>
            <a:r>
              <a:t>第1轮总体完成情况：已完成项目规划、用户故事拆分、原型设计和部分真实验证。</a:t>
            </a:r>
          </a:p>
          <a:p>
            <a:pPr algn="l">
              <a:defRPr sz="1800"/>
            </a:pPr>
            <a:r>
              <a:t>第2轮需要改进的地方和措施：补齐迭代看板、燃尽图、更多真实运行证据。</a:t>
            </a:r>
          </a:p>
          <a:p>
            <a:pPr algn="l">
              <a:defRPr sz="1800"/>
            </a:pPr>
            <a:r>
              <a:t>其他说明：当前项目以单人原型为主，后续重点是继续推进 Sprint 2 能力。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7FC88BF-2799-4D57-8F4C-3B4AB49C4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algn="l">
              <a:defRPr b="1" sz="2400"/>
            </a:pPr>
            <a:r>
              <a:t>检查材料提交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5AB5CC0-B9E1-4B6A-9672-871B70E33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606" y="1484630"/>
            <a:ext cx="8224520" cy="5113020"/>
          </a:xfrm>
        </p:spPr>
        <p:txBody>
          <a:bodyPr/>
          <a:lstStyle/>
          <a:p>
            <a:pPr indent="-228600" eaLnBrk="1" hangingPunct="1" algn="l">
              <a:defRPr sz="1800"/>
            </a:pPr>
            <a:r>
              <a:t>提交文件1：2023112455-刘宇轩-Project第1轮检查.pptx</a:t>
            </a:r>
          </a:p>
          <a:p>
            <a:pPr algn="l">
              <a:defRPr sz="1800"/>
            </a:pPr>
            <a:r>
              <a:t>提交文件2：Lab2 实验报告（Word / PDF / Markdown 版本）</a:t>
            </a:r>
          </a:p>
          <a:p>
            <a:pPr algn="l">
              <a:defRPr sz="1800"/>
            </a:pPr>
            <a:r>
              <a:t>提交文件3：真实运行与 CodeArts 截图材料</a:t>
            </a:r>
          </a:p>
          <a:p>
            <a:pPr algn="l">
              <a:defRPr sz="1800"/>
            </a:pPr>
            <a:r>
              <a:t>说明：材料已按模板内容填充，并与项目文档保持一致。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>
            <a:extLst>
              <a:ext uri="{FF2B5EF4-FFF2-40B4-BE49-F238E27FC236}">
                <a16:creationId xmlns:a16="http://schemas.microsoft.com/office/drawing/2014/main" id="{A564CBD8-6FA5-40D1-88C8-53D8EC986C6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 algn="l">
              <a:defRPr b="1" sz="2400"/>
            </a:pPr>
            <a:r>
              <a:t>结束</a:t>
            </a:r>
          </a:p>
        </p:txBody>
      </p:sp>
      <p:sp>
        <p:nvSpPr>
          <p:cNvPr id="20483" name="Rectangle 5">
            <a:extLst>
              <a:ext uri="{FF2B5EF4-FFF2-40B4-BE49-F238E27FC236}">
                <a16:creationId xmlns:a16="http://schemas.microsoft.com/office/drawing/2014/main" id="{7112D08B-1843-4156-BBAB-F0C623CA176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 algn="l">
              <a:defRPr sz="1800"/>
            </a:pPr>
            <a:r>
              <a:t>感谢老师检查</a:t>
            </a:r>
            <a:endParaRPr lang="zh-CN" altLang="en-US" noProof="1"/>
          </a:p>
          <a:p>
            <a:pPr algn="l">
              <a:defRPr sz="1800"/>
            </a:pPr>
            <a:r>
              <a:t>项目名称：CodePilot</a:t>
            </a:r>
          </a:p>
          <a:p>
            <a:pPr algn="l">
              <a:defRPr sz="1800"/>
            </a:pPr>
            <a:r>
              <a:t>汇报人：刘宇轩  2023112455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ITRUS">
  <a:themeElements>
    <a:clrScheme name="1_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1_CITRUS">
      <a:majorFont>
        <a:latin typeface="Calibri"/>
        <a:ea typeface="楷体_GB2312"/>
        <a:cs typeface="宋体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ITRUS">
  <a:themeElements>
    <a:clrScheme name="1_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1_CITRUS">
      <a:majorFont>
        <a:latin typeface="Calibri"/>
        <a:ea typeface="楷体_GB2312"/>
        <a:cs typeface="宋体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344</Words>
  <Application>Microsoft Office PowerPoint</Application>
  <PresentationFormat>全屏显示(4:3)</PresentationFormat>
  <Paragraphs>57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楷体</vt:lpstr>
      <vt:lpstr>楷体_GB2312</vt:lpstr>
      <vt:lpstr>Arial</vt:lpstr>
      <vt:lpstr>Calibri</vt:lpstr>
      <vt:lpstr>Times New Roman</vt:lpstr>
      <vt:lpstr>Wingdings</vt:lpstr>
      <vt:lpstr>1_CITRUS</vt:lpstr>
      <vt:lpstr>2_CITRUS</vt:lpstr>
      <vt:lpstr>哈工大计算学部2026年春季学期 《软件工程》Project 第1轮 检查汇报</vt:lpstr>
      <vt:lpstr>选题与分组</vt:lpstr>
      <vt:lpstr>对题目的理解</vt:lpstr>
      <vt:lpstr>功能清单</vt:lpstr>
      <vt:lpstr>非功能需求</vt:lpstr>
      <vt:lpstr>系统的体系结构构思</vt:lpstr>
      <vt:lpstr>系统开发技术</vt:lpstr>
      <vt:lpstr>团队分工</vt:lpstr>
      <vt:lpstr>开发进度计划</vt:lpstr>
      <vt:lpstr>可行性分析</vt:lpstr>
      <vt:lpstr>第1轮成果</vt:lpstr>
      <vt:lpstr>小结 </vt:lpstr>
      <vt:lpstr>检查材料提交 </vt:lpstr>
      <vt:lpstr>结束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哈尔滨工业大学计算机科学与技术学院 07-08春季学期2005级本科必修课程 软件工程 Software Engineering</dc:title>
  <dc:creator>Wang Zhongjie</dc:creator>
  <cp:lastModifiedBy>Hanchuan Xu</cp:lastModifiedBy>
  <cp:revision>439</cp:revision>
  <dcterms:created xsi:type="dcterms:W3CDTF">2007-06-25T17:21:56Z</dcterms:created>
  <dcterms:modified xsi:type="dcterms:W3CDTF">2026-03-27T03:25:25Z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B2418288248AE02F81E45B66F0153367_42</vt:lpwstr>
  </property>
  <property fmtid="{D5CDD505-2E9C-101B-9397-08002B2CF9AE}" pid="3" name="KSOProductBuildVer">
    <vt:lpwstr>2052-6.7.1.8828</vt:lpwstr>
  </property>
</Properties>
</file>